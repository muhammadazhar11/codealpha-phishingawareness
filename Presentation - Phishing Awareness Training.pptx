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Helvetica World" charset="1" panose="020B0500040000020004"/>
      <p:regular r:id="rId15"/>
    </p:embeddedFont>
    <p:embeddedFont>
      <p:font typeface="Georgia Pro Condensed" charset="1" panose="02040506050405020303"/>
      <p:regular r:id="rId16"/>
    </p:embeddedFont>
    <p:embeddedFont>
      <p:font typeface="Helvetica World Bold" charset="1" panose="020B080004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1D4E8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9011285"/>
            <a:ext cx="6886575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 strike="noStrike" u="none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Presented by Muhammad Azhar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975068"/>
            <a:ext cx="9754495" cy="579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 strike="noStrike" u="none">
                <a:solidFill>
                  <a:srgbClr val="F4F4F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Phishing Awareness Training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F4F4F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Understanding Phishing Attacks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416800"/>
            <a:ext cx="6886575" cy="220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Phishing is a </a:t>
            </a:r>
            <a:r>
              <a:rPr lang="en-US" b="true" sz="2499" spc="-37" strike="noStrike" u="none">
                <a:solidFill>
                  <a:srgbClr val="F4F4F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social engineering attack</a:t>
            </a:r>
            <a:r>
              <a:rPr lang="en-US" sz="2499" spc="-37" strike="noStrike" u="none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aimed at stealing sensitive data like credentials and money. Attackers typically impersonate trusted sources, creating a facade to manipulate victims into giving up valuable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457450"/>
            <a:chOff x="0" y="0"/>
            <a:chExt cx="4816593" cy="647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47230"/>
            </a:xfrm>
            <a:custGeom>
              <a:avLst/>
              <a:gdLst/>
              <a:ahLst/>
              <a:cxnLst/>
              <a:rect r="r" b="b" t="t" l="l"/>
              <a:pathLst>
                <a:path h="64723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1D4E8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685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3352800"/>
            <a:ext cx="11201400" cy="6267450"/>
            <a:chOff x="0" y="0"/>
            <a:chExt cx="1471052" cy="8230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71052" cy="823089"/>
            </a:xfrm>
            <a:custGeom>
              <a:avLst/>
              <a:gdLst/>
              <a:ahLst/>
              <a:cxnLst/>
              <a:rect r="r" b="b" t="t" l="l"/>
              <a:pathLst>
                <a:path h="823089" w="1471052">
                  <a:moveTo>
                    <a:pt x="13823" y="0"/>
                  </a:moveTo>
                  <a:lnTo>
                    <a:pt x="1457229" y="0"/>
                  </a:lnTo>
                  <a:cubicBezTo>
                    <a:pt x="1460895" y="0"/>
                    <a:pt x="1464411" y="1456"/>
                    <a:pt x="1467004" y="4049"/>
                  </a:cubicBezTo>
                  <a:cubicBezTo>
                    <a:pt x="1469596" y="6641"/>
                    <a:pt x="1471052" y="10157"/>
                    <a:pt x="1471052" y="13823"/>
                  </a:cubicBezTo>
                  <a:lnTo>
                    <a:pt x="1471052" y="809266"/>
                  </a:lnTo>
                  <a:cubicBezTo>
                    <a:pt x="1471052" y="812932"/>
                    <a:pt x="1469596" y="816448"/>
                    <a:pt x="1467004" y="819040"/>
                  </a:cubicBezTo>
                  <a:cubicBezTo>
                    <a:pt x="1464411" y="821632"/>
                    <a:pt x="1460895" y="823089"/>
                    <a:pt x="1457229" y="823089"/>
                  </a:cubicBezTo>
                  <a:lnTo>
                    <a:pt x="13823" y="823089"/>
                  </a:lnTo>
                  <a:cubicBezTo>
                    <a:pt x="10157" y="823089"/>
                    <a:pt x="6641" y="821632"/>
                    <a:pt x="4049" y="819040"/>
                  </a:cubicBezTo>
                  <a:cubicBezTo>
                    <a:pt x="1456" y="816448"/>
                    <a:pt x="0" y="812932"/>
                    <a:pt x="0" y="809266"/>
                  </a:cubicBezTo>
                  <a:lnTo>
                    <a:pt x="0" y="13823"/>
                  </a:lnTo>
                  <a:cubicBezTo>
                    <a:pt x="0" y="10157"/>
                    <a:pt x="1456" y="6641"/>
                    <a:pt x="4049" y="4049"/>
                  </a:cubicBezTo>
                  <a:cubicBezTo>
                    <a:pt x="6641" y="1456"/>
                    <a:pt x="10157" y="0"/>
                    <a:pt x="13823" y="0"/>
                  </a:cubicBezTo>
                  <a:close/>
                </a:path>
              </a:pathLst>
            </a:custGeom>
            <a:blipFill>
              <a:blip r:embed="rId2"/>
              <a:stretch>
                <a:fillRect l="-521" t="0" r="-52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172950" y="3352800"/>
            <a:ext cx="5448300" cy="6267450"/>
            <a:chOff x="0" y="0"/>
            <a:chExt cx="715512" cy="8230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5512" cy="823089"/>
            </a:xfrm>
            <a:custGeom>
              <a:avLst/>
              <a:gdLst/>
              <a:ahLst/>
              <a:cxnLst/>
              <a:rect r="r" b="b" t="t" l="l"/>
              <a:pathLst>
                <a:path h="823089" w="715512">
                  <a:moveTo>
                    <a:pt x="28420" y="0"/>
                  </a:moveTo>
                  <a:lnTo>
                    <a:pt x="687092" y="0"/>
                  </a:lnTo>
                  <a:cubicBezTo>
                    <a:pt x="702788" y="0"/>
                    <a:pt x="715512" y="12724"/>
                    <a:pt x="715512" y="28420"/>
                  </a:cubicBezTo>
                  <a:lnTo>
                    <a:pt x="715512" y="794669"/>
                  </a:lnTo>
                  <a:cubicBezTo>
                    <a:pt x="715512" y="802206"/>
                    <a:pt x="712518" y="809435"/>
                    <a:pt x="707188" y="814765"/>
                  </a:cubicBezTo>
                  <a:cubicBezTo>
                    <a:pt x="701858" y="820095"/>
                    <a:pt x="694630" y="823089"/>
                    <a:pt x="687092" y="823089"/>
                  </a:cubicBezTo>
                  <a:lnTo>
                    <a:pt x="28420" y="823089"/>
                  </a:lnTo>
                  <a:cubicBezTo>
                    <a:pt x="12724" y="823089"/>
                    <a:pt x="0" y="810365"/>
                    <a:pt x="0" y="794669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321" r="0" b="-32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240">
                <a:solidFill>
                  <a:srgbClr val="F4F4F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Types of Phishing Attacks Explained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1D4E89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F4F4F4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Social Engineering Tactics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F4F4F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Manipulation Methods Used by Attackers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549525"/>
            <a:chOff x="0" y="0"/>
            <a:chExt cx="5744662" cy="33993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F4F4F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Urgency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2319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F4F4F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Attackers create a sense of urgency, urging victims to act quickly. This tactic often involves claims like “your account will be suspended” if immediate action is not taken.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901950"/>
            <a:chOff x="0" y="0"/>
            <a:chExt cx="5346700" cy="38692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F4F4F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Authority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278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F4F4F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Impersonating authority figures, such as banks or government officials, attackers exploit trust. Victims are more likely to comply when they believe they are dealing with a legitimate source.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901950"/>
            <a:chOff x="0" y="0"/>
            <a:chExt cx="5346700" cy="38692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F4F4F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Curiosity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9500"/>
              <a:ext cx="5346700" cy="278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F4F4F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Curiosity is used to bait victims with enticing offers, such as winning a lottery or receiving a free gift. This tactic prompts individuals to click on malicious links or provide information.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5143500"/>
            <a:ext cx="5448300" cy="4476750"/>
            <a:chOff x="0" y="0"/>
            <a:chExt cx="1631088" cy="13402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31088" cy="1340230"/>
            </a:xfrm>
            <a:custGeom>
              <a:avLst/>
              <a:gdLst/>
              <a:ahLst/>
              <a:cxnLst/>
              <a:rect r="r" b="b" t="t" l="l"/>
              <a:pathLst>
                <a:path h="1340230" w="1631088">
                  <a:moveTo>
                    <a:pt x="28420" y="0"/>
                  </a:moveTo>
                  <a:lnTo>
                    <a:pt x="1602669" y="0"/>
                  </a:lnTo>
                  <a:cubicBezTo>
                    <a:pt x="1618365" y="0"/>
                    <a:pt x="1631088" y="12724"/>
                    <a:pt x="1631088" y="28420"/>
                  </a:cubicBezTo>
                  <a:lnTo>
                    <a:pt x="1631088" y="1311810"/>
                  </a:lnTo>
                  <a:cubicBezTo>
                    <a:pt x="1631088" y="1327506"/>
                    <a:pt x="1618365" y="1340230"/>
                    <a:pt x="1602669" y="1340230"/>
                  </a:cubicBezTo>
                  <a:lnTo>
                    <a:pt x="28420" y="1340230"/>
                  </a:lnTo>
                  <a:cubicBezTo>
                    <a:pt x="12724" y="1340230"/>
                    <a:pt x="0" y="1327506"/>
                    <a:pt x="0" y="1311810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2"/>
              <a:stretch>
                <a:fillRect l="-178" t="0" r="-178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6419850" y="5143500"/>
            <a:ext cx="5448300" cy="4476750"/>
            <a:chOff x="0" y="0"/>
            <a:chExt cx="1631088" cy="13402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1088" cy="1340230"/>
            </a:xfrm>
            <a:custGeom>
              <a:avLst/>
              <a:gdLst/>
              <a:ahLst/>
              <a:cxnLst/>
              <a:rect r="r" b="b" t="t" l="l"/>
              <a:pathLst>
                <a:path h="1340230" w="1631088">
                  <a:moveTo>
                    <a:pt x="28420" y="0"/>
                  </a:moveTo>
                  <a:lnTo>
                    <a:pt x="1602669" y="0"/>
                  </a:lnTo>
                  <a:cubicBezTo>
                    <a:pt x="1618365" y="0"/>
                    <a:pt x="1631088" y="12724"/>
                    <a:pt x="1631088" y="28420"/>
                  </a:cubicBezTo>
                  <a:lnTo>
                    <a:pt x="1631088" y="1311810"/>
                  </a:lnTo>
                  <a:cubicBezTo>
                    <a:pt x="1631088" y="1327506"/>
                    <a:pt x="1618365" y="1340230"/>
                    <a:pt x="1602669" y="1340230"/>
                  </a:cubicBezTo>
                  <a:lnTo>
                    <a:pt x="28420" y="1340230"/>
                  </a:lnTo>
                  <a:cubicBezTo>
                    <a:pt x="12724" y="1340230"/>
                    <a:pt x="0" y="1327506"/>
                    <a:pt x="0" y="1311810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3"/>
              <a:stretch>
                <a:fillRect l="-178" t="0" r="-178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172950" y="5143500"/>
            <a:ext cx="5442841" cy="4476750"/>
            <a:chOff x="0" y="0"/>
            <a:chExt cx="1629454" cy="13402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29454" cy="1340230"/>
            </a:xfrm>
            <a:custGeom>
              <a:avLst/>
              <a:gdLst/>
              <a:ahLst/>
              <a:cxnLst/>
              <a:rect r="r" b="b" t="t" l="l"/>
              <a:pathLst>
                <a:path h="1340230" w="1629454">
                  <a:moveTo>
                    <a:pt x="28448" y="0"/>
                  </a:moveTo>
                  <a:lnTo>
                    <a:pt x="1601006" y="0"/>
                  </a:lnTo>
                  <a:cubicBezTo>
                    <a:pt x="1608551" y="0"/>
                    <a:pt x="1615787" y="2997"/>
                    <a:pt x="1621122" y="8332"/>
                  </a:cubicBezTo>
                  <a:cubicBezTo>
                    <a:pt x="1626457" y="13667"/>
                    <a:pt x="1629454" y="20903"/>
                    <a:pt x="1629454" y="28448"/>
                  </a:cubicBezTo>
                  <a:lnTo>
                    <a:pt x="1629454" y="1311782"/>
                  </a:lnTo>
                  <a:cubicBezTo>
                    <a:pt x="1629454" y="1319327"/>
                    <a:pt x="1626457" y="1326563"/>
                    <a:pt x="1621122" y="1331898"/>
                  </a:cubicBezTo>
                  <a:cubicBezTo>
                    <a:pt x="1615787" y="1337233"/>
                    <a:pt x="1608551" y="1340230"/>
                    <a:pt x="1601006" y="1340230"/>
                  </a:cubicBezTo>
                  <a:lnTo>
                    <a:pt x="28448" y="1340230"/>
                  </a:lnTo>
                  <a:cubicBezTo>
                    <a:pt x="20903" y="1340230"/>
                    <a:pt x="13667" y="1337233"/>
                    <a:pt x="8332" y="1331898"/>
                  </a:cubicBezTo>
                  <a:cubicBezTo>
                    <a:pt x="2997" y="1326563"/>
                    <a:pt x="0" y="1319327"/>
                    <a:pt x="0" y="1311782"/>
                  </a:cubicBezTo>
                  <a:lnTo>
                    <a:pt x="0" y="28448"/>
                  </a:lnTo>
                  <a:cubicBezTo>
                    <a:pt x="0" y="20903"/>
                    <a:pt x="2997" y="13667"/>
                    <a:pt x="8332" y="8332"/>
                  </a:cubicBezTo>
                  <a:cubicBezTo>
                    <a:pt x="13667" y="2997"/>
                    <a:pt x="20903" y="0"/>
                    <a:pt x="28448" y="0"/>
                  </a:cubicBezTo>
                  <a:close/>
                </a:path>
              </a:pathLst>
            </a:custGeom>
            <a:blipFill>
              <a:blip r:embed="rId4"/>
              <a:stretch>
                <a:fillRect l="-229" t="0" r="-229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0">
            <a:off x="666750" y="666750"/>
            <a:ext cx="15516225" cy="3808413"/>
            <a:chOff x="0" y="0"/>
            <a:chExt cx="20688300" cy="507788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66675"/>
              <a:ext cx="20688300" cy="1554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 spc="-240">
                  <a:solidFill>
                    <a:srgbClr val="F4F4F4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Real World Phishing Examples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2387600"/>
              <a:ext cx="1448181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F4F4F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Recognizing Threats in Pakistan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3371850"/>
              <a:ext cx="14481810" cy="1706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F4F4F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Awareness of local phishing tactics is crucial. Examples include fake SMS messages, fraudulent bank calls, and deceptive job offers targeting unsuspecting individuals.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F4F4F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Warning Signs of Phishing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105025" y="2463165"/>
            <a:ext cx="6886575" cy="1370648"/>
            <a:chOff x="0" y="0"/>
            <a:chExt cx="9182100" cy="182753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4F4F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Suspicious Senders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4F4F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Check for misspelled email addresses or domains.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105025" y="7827169"/>
            <a:ext cx="6886575" cy="1826419"/>
            <a:chOff x="0" y="0"/>
            <a:chExt cx="9182100" cy="243522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4F4F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Generic Greetings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366308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4F4F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Phishing attempts usually lack personalized salutations.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34675" y="5149215"/>
            <a:ext cx="6886575" cy="1370648"/>
            <a:chOff x="0" y="0"/>
            <a:chExt cx="9182100" cy="182753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4F4F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Poor Grammar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4F4F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Look for obvious spelling or grammatical mistakes.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05025" y="5141119"/>
            <a:ext cx="6886575" cy="1416844"/>
            <a:chOff x="0" y="0"/>
            <a:chExt cx="9182100" cy="188912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4F4F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Unexpected Links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366308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4F4F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Hover over links to reveal their true destinations.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66750" y="244792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4F4F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6750" y="782574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4F4F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96400" y="245364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4F4F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96400" y="513969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4F4F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750" y="513397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4F4F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734675" y="2463165"/>
            <a:ext cx="6886575" cy="1780223"/>
            <a:chOff x="0" y="0"/>
            <a:chExt cx="9182100" cy="2373630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4F4F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Urgent Language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4F4F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Phishing emails often create a false sense of urgency.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F4F4F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Best Practices to Avoid Phishing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105025" y="2463165"/>
            <a:ext cx="6886575" cy="1399223"/>
            <a:chOff x="0" y="0"/>
            <a:chExt cx="9182100" cy="186563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4F4F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Share OTP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304714"/>
              <a:ext cx="9182100" cy="560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 spc="-37" strike="noStrike" u="none">
                  <a:solidFill>
                    <a:srgbClr val="F4F4F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Never share</a:t>
              </a:r>
              <a:r>
                <a:rPr lang="en-US" sz="2499" spc="-37" strike="noStrike" u="none">
                  <a:solidFill>
                    <a:srgbClr val="F4F4F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your OTP with anyone.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105025" y="7827169"/>
            <a:ext cx="6886575" cy="1416844"/>
            <a:chOff x="0" y="0"/>
            <a:chExt cx="9182100" cy="188912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4F4F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Check Links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366308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4F4F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Hover over links to verify the URL before clicking.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34675" y="5149215"/>
            <a:ext cx="6886575" cy="1780223"/>
            <a:chOff x="0" y="0"/>
            <a:chExt cx="9182100" cy="237363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4F4F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Report Suspicious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4F4F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Report any suspicious messages immediately to IT.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734675" y="7826375"/>
            <a:ext cx="6886575" cy="1780223"/>
            <a:chOff x="0" y="0"/>
            <a:chExt cx="9182100" cy="237363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4F4F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Stay Informed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4F4F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Regularly update your knowledge about phishing tactics.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05025" y="5345906"/>
            <a:ext cx="6886575" cy="1416844"/>
            <a:chOff x="0" y="0"/>
            <a:chExt cx="9182100" cy="1889125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4F4F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Enable 2FA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366308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4F4F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Use two-factor authentication for added security.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66750" y="244792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4F4F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750" y="782574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4F4F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96400" y="245364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4F4F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96400" y="513969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4F4F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96400" y="7817644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4F4F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6750" y="513397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4F4F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734675" y="2463165"/>
            <a:ext cx="6886575" cy="1780223"/>
            <a:chOff x="0" y="0"/>
            <a:chExt cx="9182100" cy="2373630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4F4F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Verify Sources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4F4F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Always confirm the sender through official channels.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375650"/>
            <a:ext cx="6886575" cy="124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9"/>
              </a:lnSpc>
            </a:pPr>
            <a:r>
              <a:rPr lang="en-US" sz="2499" spc="-37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Test your awareness with these </a:t>
            </a:r>
            <a:r>
              <a:rPr lang="en-US" b="true" sz="2499" spc="-37">
                <a:solidFill>
                  <a:srgbClr val="F4F4F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three scenarios</a:t>
            </a:r>
            <a:r>
              <a:rPr lang="en-US" sz="2499" spc="-37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 Identify which messages may be phishing attempts to enhance your cyber safety knowledge.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733425"/>
            <a:ext cx="6886575" cy="22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 spc="-240">
                <a:solidFill>
                  <a:srgbClr val="F4F4F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Quiz: Is This Phishing?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1600" y="1076325"/>
            <a:ext cx="862965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99"/>
              </a:lnSpc>
              <a:spcBef>
                <a:spcPct val="0"/>
              </a:spcBef>
            </a:pPr>
            <a:r>
              <a:rPr lang="en-US" sz="2999" spc="-104">
                <a:solidFill>
                  <a:srgbClr val="F4F4F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Is this a phishing attempt?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91600" y="2457450"/>
            <a:ext cx="8629650" cy="1538600"/>
            <a:chOff x="0" y="0"/>
            <a:chExt cx="2272830" cy="4052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72830" cy="405228"/>
            </a:xfrm>
            <a:custGeom>
              <a:avLst/>
              <a:gdLst/>
              <a:ahLst/>
              <a:cxnLst/>
              <a:rect r="r" b="b" t="t" l="l"/>
              <a:pathLst>
                <a:path h="405228" w="2272830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72830" cy="443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91600" y="4318206"/>
            <a:ext cx="8629650" cy="1538600"/>
            <a:chOff x="0" y="0"/>
            <a:chExt cx="2272830" cy="4052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72830" cy="405228"/>
            </a:xfrm>
            <a:custGeom>
              <a:avLst/>
              <a:gdLst/>
              <a:ahLst/>
              <a:cxnLst/>
              <a:rect r="r" b="b" t="t" l="l"/>
              <a:pathLst>
                <a:path h="405228" w="2272830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72830" cy="443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91600" y="6210411"/>
            <a:ext cx="8629650" cy="1538600"/>
            <a:chOff x="0" y="0"/>
            <a:chExt cx="2272830" cy="4052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72830" cy="405228"/>
            </a:xfrm>
            <a:custGeom>
              <a:avLst/>
              <a:gdLst/>
              <a:ahLst/>
              <a:cxnLst/>
              <a:rect r="r" b="b" t="t" l="l"/>
              <a:pathLst>
                <a:path h="405228" w="2272830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72830" cy="443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91600" y="8072861"/>
            <a:ext cx="8629650" cy="1538600"/>
            <a:chOff x="0" y="0"/>
            <a:chExt cx="2272830" cy="4052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72830" cy="405228"/>
            </a:xfrm>
            <a:custGeom>
              <a:avLst/>
              <a:gdLst/>
              <a:ahLst/>
              <a:cxnLst/>
              <a:rect r="r" b="b" t="t" l="l"/>
              <a:pathLst>
                <a:path h="405228" w="2272830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72830" cy="443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650688" y="3001325"/>
            <a:ext cx="7311473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>
                <a:solidFill>
                  <a:srgbClr val="1D4E8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Yes, it 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50688" y="4862081"/>
            <a:ext cx="7311473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>
                <a:solidFill>
                  <a:srgbClr val="1D4E8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No, it isn't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0688" y="6754286"/>
            <a:ext cx="7311473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>
                <a:solidFill>
                  <a:srgbClr val="1D4E8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Unsure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50688" y="8616736"/>
            <a:ext cx="7311473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>
                <a:solidFill>
                  <a:srgbClr val="1D4E8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Maybe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F4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9011285"/>
            <a:ext cx="8324850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Stay Smart, Stay Secure Online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759" y="904875"/>
            <a:ext cx="8317491" cy="3345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825"/>
              </a:lnSpc>
            </a:pPr>
            <a:r>
              <a:rPr lang="en-US" sz="12825" spc="-448">
                <a:solidFill>
                  <a:srgbClr val="F4F4F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Cybersecurity Awareness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Phishing Awareness Training</dc:description>
  <dc:identifier>DAHWCTyDSto</dc:identifier>
  <dcterms:modified xsi:type="dcterms:W3CDTF">2011-08-01T06:04:30Z</dcterms:modified>
  <cp:revision>1</cp:revision>
  <dc:title>Presentation - Phishing Awareness Training</dc:title>
</cp:coreProperties>
</file>